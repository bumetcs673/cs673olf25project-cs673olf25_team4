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Sora"/>
      <p:regular r:id="rId20"/>
      <p:bold r:id="rId21"/>
    </p:embeddedFont>
    <p:embeddedFont>
      <p:font typeface="IBM Plex Sans"/>
      <p:regular r:id="rId22"/>
      <p:bold r:id="rId23"/>
      <p:italic r:id="rId24"/>
      <p:boldItalic r:id="rId25"/>
    </p:embeddedFont>
    <p:embeddedFont>
      <p:font typeface="Sora SemiBold"/>
      <p:regular r:id="rId26"/>
      <p:bold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Urbanist Medium"/>
      <p:regular r:id="rId32"/>
      <p:bold r:id="rId33"/>
      <p:italic r:id="rId34"/>
      <p:boldItalic r:id="rId35"/>
    </p:embeddedFont>
    <p:embeddedFont>
      <p:font typeface="IBM Plex Sans Medium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  <p:embeddedFont>
      <p:font typeface="Sora Light"/>
      <p:regular r:id="rId44"/>
      <p:bold r:id="rId45"/>
    </p:embeddedFont>
    <p:embeddedFont>
      <p:font typeface="Poppins Medium"/>
      <p:regular r:id="rId46"/>
      <p:bold r:id="rId47"/>
      <p:italic r:id="rId48"/>
      <p:boldItalic r:id="rId49"/>
    </p:embeddedFont>
    <p:embeddedFont>
      <p:font typeface="Sora ExtraLight"/>
      <p:regular r:id="rId50"/>
      <p:bold r:id="rId51"/>
    </p:embeddedFont>
    <p:embeddedFont>
      <p:font typeface="Poppins SemiBold"/>
      <p:regular r:id="rId52"/>
      <p:bold r:id="rId53"/>
      <p:italic r:id="rId54"/>
      <p:boldItalic r:id="rId55"/>
    </p:embeddedFont>
    <p:embeddedFont>
      <p:font typeface="Sora Medium"/>
      <p:regular r:id="rId56"/>
      <p:bold r:id="rId57"/>
    </p:embeddedFont>
    <p:embeddedFont>
      <p:font typeface="IBM Plex Sans SemiBold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44" Type="http://schemas.openxmlformats.org/officeDocument/2006/relationships/font" Target="fonts/SoraLight-regular.fntdata"/><Relationship Id="rId43" Type="http://schemas.openxmlformats.org/officeDocument/2006/relationships/font" Target="fonts/Urbanist-boldItalic.fntdata"/><Relationship Id="rId46" Type="http://schemas.openxmlformats.org/officeDocument/2006/relationships/font" Target="fonts/PoppinsMedium-regular.fntdata"/><Relationship Id="rId45" Type="http://schemas.openxmlformats.org/officeDocument/2006/relationships/font" Target="fonts/Sora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Medium-italic.fntdata"/><Relationship Id="rId47" Type="http://schemas.openxmlformats.org/officeDocument/2006/relationships/font" Target="fonts/PoppinsMedium-bold.fntdata"/><Relationship Id="rId49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33" Type="http://schemas.openxmlformats.org/officeDocument/2006/relationships/font" Target="fonts/UrbanistMedium-bold.fntdata"/><Relationship Id="rId32" Type="http://schemas.openxmlformats.org/officeDocument/2006/relationships/font" Target="fonts/UrbanistMedium-regular.fntdata"/><Relationship Id="rId35" Type="http://schemas.openxmlformats.org/officeDocument/2006/relationships/font" Target="fonts/UrbanistMedium-boldItalic.fntdata"/><Relationship Id="rId34" Type="http://schemas.openxmlformats.org/officeDocument/2006/relationships/font" Target="fonts/UrbanistMedium-italic.fntdata"/><Relationship Id="rId37" Type="http://schemas.openxmlformats.org/officeDocument/2006/relationships/font" Target="fonts/IBMPlexSansMedium-bold.fntdata"/><Relationship Id="rId36" Type="http://schemas.openxmlformats.org/officeDocument/2006/relationships/font" Target="fonts/IBMPlexSansMedium-regular.fntdata"/><Relationship Id="rId39" Type="http://schemas.openxmlformats.org/officeDocument/2006/relationships/font" Target="fonts/IBMPlexSansMedium-boldItalic.fntdata"/><Relationship Id="rId38" Type="http://schemas.openxmlformats.org/officeDocument/2006/relationships/font" Target="fonts/IBMPlexSansMedium-italic.fntdata"/><Relationship Id="rId61" Type="http://schemas.openxmlformats.org/officeDocument/2006/relationships/font" Target="fonts/IBMPlexSansSemiBold-boldItalic.fntdata"/><Relationship Id="rId20" Type="http://schemas.openxmlformats.org/officeDocument/2006/relationships/font" Target="fonts/Sora-regular.fntdata"/><Relationship Id="rId22" Type="http://schemas.openxmlformats.org/officeDocument/2006/relationships/font" Target="fonts/IBMPlexSans-regular.fntdata"/><Relationship Id="rId21" Type="http://schemas.openxmlformats.org/officeDocument/2006/relationships/font" Target="fonts/Sora-bold.fntdata"/><Relationship Id="rId24" Type="http://schemas.openxmlformats.org/officeDocument/2006/relationships/font" Target="fonts/IBMPlexSans-italic.fntdata"/><Relationship Id="rId23" Type="http://schemas.openxmlformats.org/officeDocument/2006/relationships/font" Target="fonts/IBMPlexSans-bold.fntdata"/><Relationship Id="rId60" Type="http://schemas.openxmlformats.org/officeDocument/2006/relationships/font" Target="fonts/IBMPlexSansSemiBold-italic.fntdata"/><Relationship Id="rId26" Type="http://schemas.openxmlformats.org/officeDocument/2006/relationships/font" Target="fonts/SoraSemiBold-regular.fntdata"/><Relationship Id="rId25" Type="http://schemas.openxmlformats.org/officeDocument/2006/relationships/font" Target="fonts/IBMPlexSans-boldItalic.fntdata"/><Relationship Id="rId28" Type="http://schemas.openxmlformats.org/officeDocument/2006/relationships/font" Target="fonts/Poppins-regular.fntdata"/><Relationship Id="rId27" Type="http://schemas.openxmlformats.org/officeDocument/2006/relationships/font" Target="fonts/SoraSemiBold-bold.fntdata"/><Relationship Id="rId29" Type="http://schemas.openxmlformats.org/officeDocument/2006/relationships/font" Target="fonts/Poppins-bold.fntdata"/><Relationship Id="rId51" Type="http://schemas.openxmlformats.org/officeDocument/2006/relationships/font" Target="fonts/SoraExtraLight-bold.fntdata"/><Relationship Id="rId50" Type="http://schemas.openxmlformats.org/officeDocument/2006/relationships/font" Target="fonts/SoraExtraLight-regular.fntdata"/><Relationship Id="rId53" Type="http://schemas.openxmlformats.org/officeDocument/2006/relationships/font" Target="fonts/PoppinsSemiBold-bold.fntdata"/><Relationship Id="rId52" Type="http://schemas.openxmlformats.org/officeDocument/2006/relationships/font" Target="fonts/PoppinsSemiBold-regular.fntdata"/><Relationship Id="rId11" Type="http://schemas.openxmlformats.org/officeDocument/2006/relationships/slide" Target="slides/slide6.xml"/><Relationship Id="rId55" Type="http://schemas.openxmlformats.org/officeDocument/2006/relationships/font" Target="fonts/PoppinsSemiBold-boldItalic.fntdata"/><Relationship Id="rId10" Type="http://schemas.openxmlformats.org/officeDocument/2006/relationships/slide" Target="slides/slide5.xml"/><Relationship Id="rId54" Type="http://schemas.openxmlformats.org/officeDocument/2006/relationships/font" Target="fonts/PoppinsSemiBold-italic.fntdata"/><Relationship Id="rId13" Type="http://schemas.openxmlformats.org/officeDocument/2006/relationships/slide" Target="slides/slide8.xml"/><Relationship Id="rId57" Type="http://schemas.openxmlformats.org/officeDocument/2006/relationships/font" Target="fonts/SoraMedium-bold.fntdata"/><Relationship Id="rId12" Type="http://schemas.openxmlformats.org/officeDocument/2006/relationships/slide" Target="slides/slide7.xml"/><Relationship Id="rId56" Type="http://schemas.openxmlformats.org/officeDocument/2006/relationships/font" Target="fonts/SoraMedium-regular.fntdata"/><Relationship Id="rId15" Type="http://schemas.openxmlformats.org/officeDocument/2006/relationships/slide" Target="slides/slide10.xml"/><Relationship Id="rId59" Type="http://schemas.openxmlformats.org/officeDocument/2006/relationships/font" Target="fonts/IBMPlexSansSemiBold-bold.fntdata"/><Relationship Id="rId14" Type="http://schemas.openxmlformats.org/officeDocument/2006/relationships/slide" Target="slides/slide9.xml"/><Relationship Id="rId58" Type="http://schemas.openxmlformats.org/officeDocument/2006/relationships/font" Target="fonts/IBMPlexSansSemiBold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81ede7644e_0_4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81ede7644e_0_4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81ede7644e_0_5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381ede7644e_0_5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81ede7644e_0_5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81ede7644e_0_5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81ede7644e_0_5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81ede7644e_0_5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81ede7644e_0_5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381ede7644e_0_5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81d931552e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381d931552e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381ede7644e_0_5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381ede7644e_0_5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3663654d431_1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3663654d431_1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663654d431_1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663654d431_1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81d931552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81d93155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663654d431_1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663654d431_1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81ede7644e_0_5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81ede7644e_0_5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6636451aa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6636451aa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886" name="Google Shape;886;p51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7" name="Google Shape;887;p51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8" name="Google Shape;888;p51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9" name="Google Shape;889;p51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0" name="Google Shape;890;p51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1" name="Google Shape;891;p51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2" name="Google Shape;892;p5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5" name="Google Shape;895;p5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896" name="Google Shape;896;p5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7" name="Google Shape;897;p5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898" name="Google Shape;898;p5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99" name="Google Shape;899;p5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900" name="Google Shape;900;p5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01" name="Google Shape;901;p5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902" name="Google Shape;902;p5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3" name="Google Shape;903;p5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4" name="Google Shape;904;p5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5" name="Google Shape;905;p5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6" name="Google Shape;906;p5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07" name="Google Shape;907;p5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08" name="Google Shape;908;p5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5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3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2" name="Google Shape;912;p53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3" name="Google Shape;913;p53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4" name="Google Shape;914;p53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5" name="Google Shape;915;p53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16" name="Google Shape;916;p53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17" name="Google Shape;917;p53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8" name="Google Shape;918;p53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9" name="Google Shape;919;p53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0" name="Google Shape;920;p53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1" name="Google Shape;921;p5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4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4" name="Google Shape;924;p54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5" name="Google Shape;925;p54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26" name="Google Shape;926;p5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7" name="Google Shape;927;p54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8" name="Google Shape;928;p5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929" name="Google Shape;929;p5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30" name="Google Shape;930;p5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1" name="Google Shape;931;p5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2" name="Google Shape;932;p54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5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6" name="Google Shape;936;p5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7" name="Google Shape;937;p5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38" name="Google Shape;938;p55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9" name="Google Shape;939;p5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6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42" name="Google Shape;942;p5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43" name="Google Shape;943;p56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44" name="Google Shape;944;p5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5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_1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57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8" name="Google Shape;948;p57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49" name="Google Shape;949;p57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8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800"/>
              </a:spcBef>
              <a:spcAft>
                <a:spcPts val="8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0" name="Google Shape;950;p57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1" name="Google Shape;951;p57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52" name="Google Shape;952;p57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3" name="Google Shape;953;p57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4" name="Google Shape;954;p57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5" name="Google Shape;955;p57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956" name="Google Shape;956;p57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7" name="Google Shape;957;p57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8" name="Google Shape;958;p57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9" name="Google Shape;959;p57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0" name="Google Shape;960;p57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1" name="Google Shape;961;p57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62" name="Google Shape;962;p57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5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_1"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8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6" name="Google Shape;966;p58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7" name="Google Shape;967;p58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8" name="Google Shape;968;p58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9" name="Google Shape;969;p58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70" name="Google Shape;970;p5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71" name="Google Shape;971;p5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72" name="Google Shape;972;p5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3" name="Google Shape;973;p5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6" name="Google Shape;976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0" name="Google Shape;980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1" name="Google Shape;98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3.150.136.76:3000/search" TargetMode="External"/><Relationship Id="rId4" Type="http://schemas.openxmlformats.org/officeDocument/2006/relationships/hyperlink" Target="http://3.150.136.76:8000/" TargetMode="External"/><Relationship Id="rId5" Type="http://schemas.openxmlformats.org/officeDocument/2006/relationships/hyperlink" Target="http://3.150.136.76:8001/" TargetMode="External"/><Relationship Id="rId6" Type="http://schemas.openxmlformats.org/officeDocument/2006/relationships/hyperlink" Target="http://3.150.136.76:8000/doc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Beatmap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Sep.2025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7" name="Google Shape;987;p61"/>
          <p:cNvSpPr txBox="1"/>
          <p:nvPr>
            <p:ph type="title"/>
          </p:nvPr>
        </p:nvSpPr>
        <p:spPr>
          <a:xfrm>
            <a:off x="69050" y="2923675"/>
            <a:ext cx="5876700" cy="14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lt1"/>
                </a:solidFill>
              </a:rPr>
              <a:t>Beatmap</a:t>
            </a:r>
            <a:endParaRPr sz="4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3DFD6"/>
                </a:solidFill>
              </a:rPr>
              <a:t>Beatmap</a:t>
            </a:r>
            <a:endParaRPr>
              <a:solidFill>
                <a:srgbClr val="E3DFD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rgbClr val="E3DFD6"/>
                </a:solidFill>
              </a:rPr>
              <a:t>Iteration 1</a:t>
            </a:r>
            <a:endParaRPr sz="5400">
              <a:solidFill>
                <a:srgbClr val="E3DFD6"/>
              </a:solidFill>
            </a:endParaRPr>
          </a:p>
        </p:txBody>
      </p:sp>
      <p:sp>
        <p:nvSpPr>
          <p:cNvPr id="988" name="Google Shape;988;p61"/>
          <p:cNvSpPr txBox="1"/>
          <p:nvPr>
            <p:ph idx="1" type="subTitle"/>
          </p:nvPr>
        </p:nvSpPr>
        <p:spPr>
          <a:xfrm>
            <a:off x="138475" y="4119775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S. Akerman, E. Cavallero, Z. Cheng, G. Grimaylo, M. Laszlo, Z. Liao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89" name="Google Shape;989;p61" title="Beatmap Logo (1)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19" l="0" r="0" t="119"/>
          <a:stretch/>
        </p:blipFill>
        <p:spPr>
          <a:xfrm>
            <a:off x="6598200" y="2527800"/>
            <a:ext cx="1608000" cy="162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95" name="Google Shape;995;p6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Sep.2025</a:t>
            </a:r>
            <a:endParaRPr/>
          </a:p>
        </p:txBody>
      </p:sp>
      <p:sp>
        <p:nvSpPr>
          <p:cNvPr id="996" name="Google Shape;996;p6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997" name="Google Shape;997;p62"/>
          <p:cNvSpPr txBox="1"/>
          <p:nvPr/>
        </p:nvSpPr>
        <p:spPr>
          <a:xfrm>
            <a:off x="3550275" y="970325"/>
            <a:ext cx="4762500" cy="3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1.</a:t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Iteration 1 Summary</a:t>
            </a:r>
            <a:endParaRPr sz="10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2.</a:t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CI/CD Pipeline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3.</a:t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Pivot to AWS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4.</a:t>
            </a:r>
            <a:endParaRPr sz="10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Security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5.</a:t>
            </a:r>
            <a:endParaRPr sz="10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Demo: Front-end Back-end and Swagger UI</a:t>
            </a:r>
            <a:endParaRPr sz="1800">
              <a:solidFill>
                <a:srgbClr val="434343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6.</a:t>
            </a:r>
            <a:endParaRPr sz="12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34343"/>
                </a:solidFill>
                <a:latin typeface="Sora SemiBold"/>
                <a:ea typeface="Sora SemiBold"/>
                <a:cs typeface="Sora SemiBold"/>
                <a:sym typeface="Sora SemiBold"/>
              </a:rPr>
              <a:t>Next Steps(Iteration 2)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Sep.2025</a:t>
            </a:r>
            <a:endParaRPr/>
          </a:p>
        </p:txBody>
      </p:sp>
      <p:sp>
        <p:nvSpPr>
          <p:cNvPr id="1003" name="Google Shape;1003;p6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04" name="Google Shape;1004;p63"/>
          <p:cNvSpPr txBox="1"/>
          <p:nvPr>
            <p:ph idx="4294967295" type="title"/>
          </p:nvPr>
        </p:nvSpPr>
        <p:spPr>
          <a:xfrm>
            <a:off x="283475" y="433725"/>
            <a:ext cx="8173200" cy="7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Iteration 1 Summary - What we did?</a:t>
            </a:r>
            <a:endParaRPr b="1" sz="3300"/>
          </a:p>
        </p:txBody>
      </p:sp>
      <p:sp>
        <p:nvSpPr>
          <p:cNvPr id="1005" name="Google Shape;1005;p63"/>
          <p:cNvSpPr txBox="1"/>
          <p:nvPr/>
        </p:nvSpPr>
        <p:spPr>
          <a:xfrm>
            <a:off x="627300" y="1263925"/>
            <a:ext cx="7889400" cy="3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SemiBold"/>
              <a:buChar char="●"/>
            </a:pPr>
            <a:r>
              <a:rPr lang="en"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Frontend: Wrote and deployed a search page, ready for integration with backend.</a:t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SemiBold"/>
              <a:buChar char="●"/>
            </a:pPr>
            <a:r>
              <a:rPr lang="en"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Backend: Developed and deployed all backend services using for each Docker containers and handling the different APIs with FastAPI. There are currently three services: the backend service, which will serve the frontend; and two external API services to get concert data, one from Jambase and other for Ticketmaster. These two external API services will only be queried by the backend service.</a:t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SemiBold"/>
              <a:buChar char="●"/>
            </a:pPr>
            <a:r>
              <a:rPr lang="en"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Deployment: All services deployed on a AWS EC2 VM using Docker Compose.</a:t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SemiBold"/>
              <a:buChar char="●"/>
            </a:pPr>
            <a:r>
              <a:rPr lang="en" sz="1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CI/CD: Set up GitHub Actions for automated testing and deployment.</a:t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Sep.2025</a:t>
            </a:r>
            <a:endParaRPr/>
          </a:p>
        </p:txBody>
      </p:sp>
      <p:sp>
        <p:nvSpPr>
          <p:cNvPr id="1011" name="Google Shape;1011;p64"/>
          <p:cNvSpPr txBox="1"/>
          <p:nvPr>
            <p:ph idx="1" type="subTitle"/>
          </p:nvPr>
        </p:nvSpPr>
        <p:spPr>
          <a:xfrm>
            <a:off x="115025" y="1151050"/>
            <a:ext cx="8225400" cy="369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Continuous Integration (CI):</a:t>
            </a:r>
            <a:br>
              <a:rPr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GitHub Actions automatically runs tests, linter, format and security checks on each push/merge.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Continuous Deployment (CD):</a:t>
            </a:r>
            <a:endParaRPr b="1"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On merge to main, code is automatically deployed to the AWS EC2 prod instance.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On merge to test, code is automatically deployed to the AWS EC2 test instance.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Setup:</a:t>
            </a:r>
            <a:br>
              <a:rPr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Upon deployment, images and containers are cleared to reclaim space. With Docker compose we instantiate all new containers for our services.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Benefit:</a:t>
            </a:r>
            <a:br>
              <a:rPr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Faster iteration and less manual work — “code → merge → live”.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4"/>
          <p:cNvSpPr txBox="1"/>
          <p:nvPr>
            <p:ph idx="2" type="title"/>
          </p:nvPr>
        </p:nvSpPr>
        <p:spPr>
          <a:xfrm>
            <a:off x="115025" y="406250"/>
            <a:ext cx="65070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CI/CD Pipeline</a:t>
            </a:r>
            <a:endParaRPr/>
          </a:p>
        </p:txBody>
      </p:sp>
      <p:sp>
        <p:nvSpPr>
          <p:cNvPr id="1013" name="Google Shape;1013;p6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Beatmap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19" name="Google Shape;1019;p65"/>
          <p:cNvSpPr txBox="1"/>
          <p:nvPr>
            <p:ph idx="1" type="subTitle"/>
          </p:nvPr>
        </p:nvSpPr>
        <p:spPr>
          <a:xfrm>
            <a:off x="115025" y="1407725"/>
            <a:ext cx="7295100" cy="331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Why not Google Cloud Run?</a:t>
            </a:r>
            <a:endParaRPr sz="13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Each microservice requires a separate service → too complex for our scale.</a:t>
            </a:r>
            <a:endParaRPr sz="1100"/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Decision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Use AWS EC2 (single VM) inside of which we run all microservices.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Setup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Run frontend, backend, Jambase API service, Ticketmaster API service inside one VM with Docker Compose.</a:t>
            </a:r>
            <a:endParaRPr sz="11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●"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Benefit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Lightweight, simple to manage, easier to maintain, single instance to monitor health of the system, robust security infrastructure out of the box.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1020" name="Google Shape;1020;p65"/>
          <p:cNvSpPr txBox="1"/>
          <p:nvPr>
            <p:ph idx="2" type="title"/>
          </p:nvPr>
        </p:nvSpPr>
        <p:spPr>
          <a:xfrm>
            <a:off x="115025" y="406250"/>
            <a:ext cx="6507000" cy="525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Pivot to AWS EC2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66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27" name="Google Shape;1027;p66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Sep.2025</a:t>
            </a:r>
            <a:endParaRPr/>
          </a:p>
        </p:txBody>
      </p:sp>
      <p:sp>
        <p:nvSpPr>
          <p:cNvPr id="1028" name="Google Shape;1028;p66"/>
          <p:cNvSpPr txBox="1"/>
          <p:nvPr>
            <p:ph type="title"/>
          </p:nvPr>
        </p:nvSpPr>
        <p:spPr>
          <a:xfrm>
            <a:off x="129300" y="356575"/>
            <a:ext cx="80622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Pivot to AWS EC2(Cont.)</a:t>
            </a:r>
            <a:endParaRPr sz="5500"/>
          </a:p>
        </p:txBody>
      </p:sp>
      <p:pic>
        <p:nvPicPr>
          <p:cNvPr id="1029" name="Google Shape;102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3175" y="1216401"/>
            <a:ext cx="6557649" cy="3322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66"/>
          <p:cNvSpPr txBox="1"/>
          <p:nvPr/>
        </p:nvSpPr>
        <p:spPr>
          <a:xfrm>
            <a:off x="3314250" y="4586275"/>
            <a:ext cx="25155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AWS EC2 management console</a:t>
            </a:r>
            <a:endParaRPr i="1" sz="11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7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Sep.2025</a:t>
            </a:r>
            <a:endParaRPr/>
          </a:p>
        </p:txBody>
      </p:sp>
      <p:sp>
        <p:nvSpPr>
          <p:cNvPr id="1036" name="Google Shape;1036;p6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37" name="Google Shape;1037;p67"/>
          <p:cNvSpPr txBox="1"/>
          <p:nvPr>
            <p:ph idx="14" type="title"/>
          </p:nvPr>
        </p:nvSpPr>
        <p:spPr>
          <a:xfrm>
            <a:off x="228600" y="240300"/>
            <a:ext cx="23472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Security</a:t>
            </a:r>
            <a:endParaRPr sz="3500"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038" name="Google Shape;1038;p67"/>
          <p:cNvSpPr txBox="1"/>
          <p:nvPr/>
        </p:nvSpPr>
        <p:spPr>
          <a:xfrm>
            <a:off x="377850" y="908550"/>
            <a:ext cx="82890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Current Security Strengths:</a:t>
            </a:r>
            <a:endParaRPr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Automated Security Workflows - Integrated security checks in CI/CD pipeline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Quality Gates - Automated vulnerability scanning before deployment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 Control - Role-based permissions and authentication systems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Secure Development Lifecycle - Security reviews integrated into development process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Implemented Security Best Practices:</a:t>
            </a:r>
            <a:endParaRPr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Regular Security Audits - Periodic assessment of application vulnerabilities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Dependency Management - Automated monitoring and updates for third-party libraries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Secure Coding Standards - Team follows established security guidelines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Incident Response Plan - Documented procedures for security event handling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rPr>
              <a:t>Future Security Goals:</a:t>
            </a:r>
            <a:endParaRPr>
              <a:solidFill>
                <a:schemeClr val="lt1"/>
              </a:solidFill>
              <a:latin typeface="Sora SemiBold"/>
              <a:ea typeface="Sora SemiBold"/>
              <a:cs typeface="Sora SemiBold"/>
              <a:sym typeface="Sora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Enhanced Monitoring - Implement real-time threat detection and alerting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Security Training - Regular team education on emerging security threats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Zero-Trust Architecture - Migrate toward enhanced identity verification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8"/>
          <p:cNvSpPr txBox="1"/>
          <p:nvPr>
            <p:ph type="title"/>
          </p:nvPr>
        </p:nvSpPr>
        <p:spPr>
          <a:xfrm>
            <a:off x="283475" y="300025"/>
            <a:ext cx="58566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Demo 1: Frontend (Port 3000)</a:t>
            </a:r>
            <a:endParaRPr sz="2000"/>
          </a:p>
        </p:txBody>
      </p:sp>
      <p:sp>
        <p:nvSpPr>
          <p:cNvPr id="1044" name="Google Shape;1044;p6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45" name="Google Shape;1045;p6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 2025</a:t>
            </a:r>
            <a:endParaRPr/>
          </a:p>
        </p:txBody>
      </p:sp>
      <p:sp>
        <p:nvSpPr>
          <p:cNvPr id="1046" name="Google Shape;1046;p68"/>
          <p:cNvSpPr txBox="1"/>
          <p:nvPr/>
        </p:nvSpPr>
        <p:spPr>
          <a:xfrm>
            <a:off x="538350" y="1156750"/>
            <a:ext cx="4572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Input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city, date range, radius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UI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functional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buttons &amp; forms working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Current limitation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results still empty</a:t>
            </a:r>
            <a:b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○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Reason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frontend–backend merge planned for iteration 2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7" name="Google Shape;1047;p68"/>
          <p:cNvSpPr txBox="1"/>
          <p:nvPr/>
        </p:nvSpPr>
        <p:spPr>
          <a:xfrm>
            <a:off x="538350" y="2874600"/>
            <a:ext cx="737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48" name="Google Shape;104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0900" y="1431750"/>
            <a:ext cx="3785024" cy="228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9"/>
          <p:cNvSpPr txBox="1"/>
          <p:nvPr>
            <p:ph type="title"/>
          </p:nvPr>
        </p:nvSpPr>
        <p:spPr>
          <a:xfrm>
            <a:off x="283475" y="300025"/>
            <a:ext cx="69843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Demo 2: Backend + Microservices(8000, 8001, 8002)</a:t>
            </a:r>
            <a:endParaRPr sz="2000"/>
          </a:p>
        </p:txBody>
      </p:sp>
      <p:sp>
        <p:nvSpPr>
          <p:cNvPr id="1054" name="Google Shape;1054;p6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55" name="Google Shape;1055;p6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 2025</a:t>
            </a:r>
            <a:endParaRPr/>
          </a:p>
        </p:txBody>
      </p:sp>
      <p:sp>
        <p:nvSpPr>
          <p:cNvPr id="1056" name="Google Shape;1056;p69"/>
          <p:cNvSpPr txBox="1"/>
          <p:nvPr/>
        </p:nvSpPr>
        <p:spPr>
          <a:xfrm>
            <a:off x="538350" y="1156750"/>
            <a:ext cx="3854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Backend (8000)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– status JSON: </a:t>
            </a:r>
            <a:r>
              <a:rPr i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Backend is running</a:t>
            </a:r>
            <a:br>
              <a:rPr i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i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Ticketmaster (8001)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– status JSON: </a:t>
            </a:r>
            <a:r>
              <a:rPr i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Service is running</a:t>
            </a:r>
            <a:br>
              <a:rPr i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i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Jambase (8002)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– status JSON: </a:t>
            </a:r>
            <a:r>
              <a:rPr i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Service is running</a:t>
            </a:r>
            <a:endParaRPr i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57" name="Google Shape;105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575" y="1084863"/>
            <a:ext cx="2777060" cy="79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9575" y="2235600"/>
            <a:ext cx="2777051" cy="797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575" y="3384250"/>
            <a:ext cx="2777049" cy="79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0"/>
          <p:cNvSpPr txBox="1"/>
          <p:nvPr>
            <p:ph type="title"/>
          </p:nvPr>
        </p:nvSpPr>
        <p:spPr>
          <a:xfrm>
            <a:off x="283475" y="300025"/>
            <a:ext cx="6984300" cy="43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Demo 3: Swagger UI (Port 8000/docs)</a:t>
            </a:r>
            <a:endParaRPr sz="2000"/>
          </a:p>
        </p:txBody>
      </p:sp>
      <p:sp>
        <p:nvSpPr>
          <p:cNvPr id="1065" name="Google Shape;1065;p7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66" name="Google Shape;1066;p70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 2025</a:t>
            </a:r>
            <a:endParaRPr/>
          </a:p>
        </p:txBody>
      </p:sp>
      <p:sp>
        <p:nvSpPr>
          <p:cNvPr id="1067" name="Google Shape;1067;p70"/>
          <p:cNvSpPr txBox="1"/>
          <p:nvPr/>
        </p:nvSpPr>
        <p:spPr>
          <a:xfrm>
            <a:off x="538350" y="1156750"/>
            <a:ext cx="42066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Auto-generated API documentation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Enables developers to test endpoints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Exam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ple: /search?city=Boston&amp;start_date=2025-09-30&amp;end_date=2025-12-01&amp;provider=jambase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68" name="Google Shape;106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1325" y="720563"/>
            <a:ext cx="3942956" cy="410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1"/>
          <p:cNvSpPr txBox="1"/>
          <p:nvPr>
            <p:ph type="title"/>
          </p:nvPr>
        </p:nvSpPr>
        <p:spPr>
          <a:xfrm>
            <a:off x="4665825" y="1253625"/>
            <a:ext cx="41934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teps</a:t>
            </a:r>
            <a:endParaRPr/>
          </a:p>
        </p:txBody>
      </p:sp>
      <p:sp>
        <p:nvSpPr>
          <p:cNvPr id="1074" name="Google Shape;1074;p7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Beatmap</a:t>
            </a:r>
            <a:endParaRPr/>
          </a:p>
        </p:txBody>
      </p:sp>
      <p:sp>
        <p:nvSpPr>
          <p:cNvPr id="1075" name="Google Shape;1075;p7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 2025</a:t>
            </a:r>
            <a:endParaRPr/>
          </a:p>
        </p:txBody>
      </p:sp>
      <p:sp>
        <p:nvSpPr>
          <p:cNvPr id="1076" name="Google Shape;1076;p7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077" name="Google Shape;1077;p71"/>
          <p:cNvSpPr txBox="1"/>
          <p:nvPr>
            <p:ph idx="2" type="body"/>
          </p:nvPr>
        </p:nvSpPr>
        <p:spPr>
          <a:xfrm>
            <a:off x="283925" y="3561603"/>
            <a:ext cx="1823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078" name="Google Shape;1078;p7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1079" name="Google Shape;1079;p7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080" name="Google Shape;1080;p7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Merge frontend &amp; backend</a:t>
            </a:r>
            <a:endParaRPr sz="1200"/>
          </a:p>
        </p:txBody>
      </p:sp>
      <p:sp>
        <p:nvSpPr>
          <p:cNvPr id="1081" name="Google Shape;1081;p7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Improve UI (loading states, error messages)</a:t>
            </a:r>
            <a:endParaRPr sz="1200"/>
          </a:p>
        </p:txBody>
      </p:sp>
      <p:sp>
        <p:nvSpPr>
          <p:cNvPr id="1082" name="Google Shape;1082;p7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Start user system &amp; database integration</a:t>
            </a:r>
            <a:r>
              <a:rPr lang="en" sz="1200"/>
              <a:t> </a:t>
            </a:r>
            <a:endParaRPr sz="1200"/>
          </a:p>
        </p:txBody>
      </p:sp>
      <p:sp>
        <p:nvSpPr>
          <p:cNvPr id="1083" name="Google Shape;1083;p7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Explore AI agent for natural language search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72"/>
          <p:cNvSpPr txBox="1"/>
          <p:nvPr>
            <p:ph type="title"/>
          </p:nvPr>
        </p:nvSpPr>
        <p:spPr>
          <a:xfrm>
            <a:off x="228600" y="2149025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listening!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3"/>
          <p:cNvSpPr txBox="1"/>
          <p:nvPr>
            <p:ph idx="1" type="subTitle"/>
          </p:nvPr>
        </p:nvSpPr>
        <p:spPr>
          <a:xfrm>
            <a:off x="311700" y="1877950"/>
            <a:ext cx="8520600" cy="17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CICD pipeline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Pivot from Google Cloud Run multi service approach to AWS single VM approach using docker compose to run </a:t>
            </a:r>
            <a:r>
              <a:rPr lang="en" sz="1000"/>
              <a:t>micro services inside single VM.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Description of architecture: microservice architecture. One docker service container for: frontend, backend, jambase, ticketmaster. Easy to add more vendor/provider micro services for external calls.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DEMO: show frontend 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http://3.150.136.76:3000/search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DEMO: show backend service: 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http://3.150.136.76:8000/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DEMO: show external API microservices jambase and ticketmaster: 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http://3.150.136.76:8001/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http://3.150.136.76:8001/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DEMO: show calls to jambase and ticketmaster using Swagger UI: </a:t>
            </a:r>
            <a:r>
              <a:rPr lang="en" sz="1000" u="sng">
                <a:solidFill>
                  <a:schemeClr val="hlink"/>
                </a:solidFill>
                <a:hlinkClick r:id="rId6"/>
              </a:rPr>
              <a:t>http://3.150.136.76:8000/docs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000"/>
              <a:t>Describe TENTATIVE next steps for iteration 2: integrate front and backend. Improve UI. Integrate AI agent. Hope to begin user/db integration.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8" name="Google Shape;109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78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