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Sora"/>
      <p:regular r:id="rId26"/>
      <p:bold r:id="rId27"/>
    </p:embeddedFont>
    <p:embeddedFont>
      <p:font typeface="IBM Plex Sans"/>
      <p:regular r:id="rId28"/>
      <p:bold r:id="rId29"/>
      <p:italic r:id="rId30"/>
      <p:boldItalic r:id="rId31"/>
    </p:embeddedFont>
    <p:embeddedFont>
      <p:font typeface="Sora SemiBold"/>
      <p:regular r:id="rId32"/>
      <p:bold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Urbanist Medium"/>
      <p:regular r:id="rId38"/>
      <p:bold r:id="rId39"/>
      <p:italic r:id="rId40"/>
      <p:boldItalic r:id="rId41"/>
    </p:embeddedFont>
    <p:embeddedFont>
      <p:font typeface="IBM Plex Sans Medium"/>
      <p:regular r:id="rId42"/>
      <p:bold r:id="rId43"/>
      <p:italic r:id="rId44"/>
      <p:boldItalic r:id="rId45"/>
    </p:embeddedFont>
    <p:embeddedFont>
      <p:font typeface="Urbanist"/>
      <p:regular r:id="rId46"/>
      <p:bold r:id="rId47"/>
      <p:italic r:id="rId48"/>
      <p:boldItalic r:id="rId49"/>
    </p:embeddedFont>
    <p:embeddedFont>
      <p:font typeface="Sora Light"/>
      <p:regular r:id="rId50"/>
      <p:bold r:id="rId51"/>
    </p:embeddedFont>
    <p:embeddedFont>
      <p:font typeface="Sora ExtraLight"/>
      <p:regular r:id="rId52"/>
      <p:bold r:id="rId53"/>
    </p:embeddedFont>
    <p:embeddedFont>
      <p:font typeface="Poppins SemiBold"/>
      <p:regular r:id="rId54"/>
      <p:bold r:id="rId55"/>
      <p:italic r:id="rId56"/>
      <p:boldItalic r:id="rId57"/>
    </p:embeddedFont>
    <p:embeddedFont>
      <p:font typeface="Sora Medium"/>
      <p:regular r:id="rId58"/>
      <p:bold r:id="rId59"/>
    </p:embeddedFont>
    <p:embeddedFont>
      <p:font typeface="IBM Plex Sans SemiBold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Medium-italic.fntdata"/><Relationship Id="rId42" Type="http://schemas.openxmlformats.org/officeDocument/2006/relationships/font" Target="fonts/IBMPlexSansMedium-regular.fntdata"/><Relationship Id="rId41" Type="http://schemas.openxmlformats.org/officeDocument/2006/relationships/font" Target="fonts/UrbanistMedium-boldItalic.fntdata"/><Relationship Id="rId44" Type="http://schemas.openxmlformats.org/officeDocument/2006/relationships/font" Target="fonts/IBMPlexSansMedium-italic.fntdata"/><Relationship Id="rId43" Type="http://schemas.openxmlformats.org/officeDocument/2006/relationships/font" Target="fonts/IBMPlexSansMedium-bold.fntdata"/><Relationship Id="rId46" Type="http://schemas.openxmlformats.org/officeDocument/2006/relationships/font" Target="fonts/Urbanist-regular.fntdata"/><Relationship Id="rId45" Type="http://schemas.openxmlformats.org/officeDocument/2006/relationships/font" Target="fonts/IBMPlex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Urbanist-italic.fntdata"/><Relationship Id="rId47" Type="http://schemas.openxmlformats.org/officeDocument/2006/relationships/font" Target="fonts/Urbanist-bold.fntdata"/><Relationship Id="rId49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-boldItalic.fntdata"/><Relationship Id="rId30" Type="http://schemas.openxmlformats.org/officeDocument/2006/relationships/font" Target="fonts/IBMPlexSans-italic.fntdata"/><Relationship Id="rId33" Type="http://schemas.openxmlformats.org/officeDocument/2006/relationships/font" Target="fonts/SoraSemiBold-bold.fntdata"/><Relationship Id="rId32" Type="http://schemas.openxmlformats.org/officeDocument/2006/relationships/font" Target="fonts/SoraSemiBold-regular.fntdata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UrbanistMedium-bold.fntdata"/><Relationship Id="rId38" Type="http://schemas.openxmlformats.org/officeDocument/2006/relationships/font" Target="fonts/UrbanistMedium-regular.fntdata"/><Relationship Id="rId62" Type="http://schemas.openxmlformats.org/officeDocument/2006/relationships/font" Target="fonts/IBMPlexSansSemiBold-italic.fntdata"/><Relationship Id="rId61" Type="http://schemas.openxmlformats.org/officeDocument/2006/relationships/font" Target="fonts/IBMPlexSansSemiBold-bold.fntdata"/><Relationship Id="rId20" Type="http://schemas.openxmlformats.org/officeDocument/2006/relationships/slide" Target="slides/slide15.xml"/><Relationship Id="rId63" Type="http://schemas.openxmlformats.org/officeDocument/2006/relationships/font" Target="fonts/IBMPlexSansSemiBold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IBMPlexSansSemiBold-regular.fntdata"/><Relationship Id="rId26" Type="http://schemas.openxmlformats.org/officeDocument/2006/relationships/font" Target="fonts/Sora-regular.fntdata"/><Relationship Id="rId25" Type="http://schemas.openxmlformats.org/officeDocument/2006/relationships/slide" Target="slides/slide20.xml"/><Relationship Id="rId28" Type="http://schemas.openxmlformats.org/officeDocument/2006/relationships/font" Target="fonts/IBMPlexSans-regular.fntdata"/><Relationship Id="rId27" Type="http://schemas.openxmlformats.org/officeDocument/2006/relationships/font" Target="fonts/Sora-bold.fntdata"/><Relationship Id="rId29" Type="http://schemas.openxmlformats.org/officeDocument/2006/relationships/font" Target="fonts/IBMPlexSans-bold.fntdata"/><Relationship Id="rId51" Type="http://schemas.openxmlformats.org/officeDocument/2006/relationships/font" Target="fonts/SoraLight-bold.fntdata"/><Relationship Id="rId50" Type="http://schemas.openxmlformats.org/officeDocument/2006/relationships/font" Target="fonts/SoraLight-regular.fntdata"/><Relationship Id="rId53" Type="http://schemas.openxmlformats.org/officeDocument/2006/relationships/font" Target="fonts/SoraExtraLight-bold.fntdata"/><Relationship Id="rId52" Type="http://schemas.openxmlformats.org/officeDocument/2006/relationships/font" Target="fonts/SoraExtraLight-regular.fntdata"/><Relationship Id="rId11" Type="http://schemas.openxmlformats.org/officeDocument/2006/relationships/slide" Target="slides/slide6.xml"/><Relationship Id="rId55" Type="http://schemas.openxmlformats.org/officeDocument/2006/relationships/font" Target="fonts/PoppinsSemiBold-bold.fntdata"/><Relationship Id="rId10" Type="http://schemas.openxmlformats.org/officeDocument/2006/relationships/slide" Target="slides/slide5.xml"/><Relationship Id="rId54" Type="http://schemas.openxmlformats.org/officeDocument/2006/relationships/font" Target="fonts/PoppinsSemiBold-regular.fntdata"/><Relationship Id="rId13" Type="http://schemas.openxmlformats.org/officeDocument/2006/relationships/slide" Target="slides/slide8.xml"/><Relationship Id="rId57" Type="http://schemas.openxmlformats.org/officeDocument/2006/relationships/font" Target="fonts/PoppinsSemiBold-boldItalic.fntdata"/><Relationship Id="rId12" Type="http://schemas.openxmlformats.org/officeDocument/2006/relationships/slide" Target="slides/slide7.xml"/><Relationship Id="rId56" Type="http://schemas.openxmlformats.org/officeDocument/2006/relationships/font" Target="fonts/PoppinsSemiBold-italic.fntdata"/><Relationship Id="rId15" Type="http://schemas.openxmlformats.org/officeDocument/2006/relationships/slide" Target="slides/slide10.xml"/><Relationship Id="rId59" Type="http://schemas.openxmlformats.org/officeDocument/2006/relationships/font" Target="fonts/SoraMedium-bold.fntdata"/><Relationship Id="rId14" Type="http://schemas.openxmlformats.org/officeDocument/2006/relationships/slide" Target="slides/slide9.xml"/><Relationship Id="rId58" Type="http://schemas.openxmlformats.org/officeDocument/2006/relationships/font" Target="fonts/SoraMedium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81ede7644e_0_4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81ede7644e_0_4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850c60facd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850c60facd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85fa68d18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85fa68d18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85fee00b1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85fee00b1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85fee00b1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85fee00b1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85fee00b1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85fee00b1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85fee00b1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85fee00b1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85fa68d18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385fa68d18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85fa68d18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85fa68d18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85fa68d18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85fa68d18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85fa68d18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85fa68d18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85fa68d18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85fa68d18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85fa68d18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85fa68d18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85fa68d18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85fa68d18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85fa68d18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85fa68d18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85fa68d18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385fa68d18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85fa68d18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85fa68d18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85fa68d18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85fa68d18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85fee00b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85fee00b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85fee00b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385fee00b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886" name="Google Shape;886;p51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7" name="Google Shape;887;p51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8" name="Google Shape;888;p51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9" name="Google Shape;889;p51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0" name="Google Shape;890;p51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1" name="Google Shape;891;p51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2" name="Google Shape;892;p5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5" name="Google Shape;895;p5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896" name="Google Shape;896;p5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7" name="Google Shape;897;p5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898" name="Google Shape;898;p5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9" name="Google Shape;899;p5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900" name="Google Shape;900;p5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01" name="Google Shape;901;p5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902" name="Google Shape;902;p5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3" name="Google Shape;903;p5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4" name="Google Shape;904;p5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5" name="Google Shape;905;p5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6" name="Google Shape;906;p5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07" name="Google Shape;907;p5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08" name="Google Shape;908;p5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p5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3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12" name="Google Shape;912;p53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3" name="Google Shape;913;p53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14" name="Google Shape;914;p53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5" name="Google Shape;915;p53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16" name="Google Shape;916;p53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7" name="Google Shape;917;p53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8" name="Google Shape;918;p53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9" name="Google Shape;919;p53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0" name="Google Shape;920;p53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1" name="Google Shape;921;p5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4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54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54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6" name="Google Shape;926;p5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7" name="Google Shape;927;p54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8" name="Google Shape;928;p5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29" name="Google Shape;929;p5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30" name="Google Shape;930;p5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1" name="Google Shape;931;p5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2" name="Google Shape;932;p54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5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6" name="Google Shape;936;p5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7" name="Google Shape;937;p5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8" name="Google Shape;938;p5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9" name="Google Shape;939;p5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6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42" name="Google Shape;942;p5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43" name="Google Shape;943;p5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44" name="Google Shape;944;p5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5" name="Google Shape;945;p5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_1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7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48" name="Google Shape;948;p57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49" name="Google Shape;949;p57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800"/>
              </a:spcBef>
              <a:spcAft>
                <a:spcPts val="8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0" name="Google Shape;950;p57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1" name="Google Shape;951;p57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2" name="Google Shape;952;p57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53" name="Google Shape;953;p57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54" name="Google Shape;954;p57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55" name="Google Shape;955;p57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56" name="Google Shape;956;p57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7" name="Google Shape;957;p57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8" name="Google Shape;958;p57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9" name="Google Shape;959;p57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0" name="Google Shape;960;p57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1" name="Google Shape;961;p57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2" name="Google Shape;962;p57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5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_1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8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6" name="Google Shape;966;p58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7" name="Google Shape;967;p58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8" name="Google Shape;968;p58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9" name="Google Shape;969;p58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70" name="Google Shape;970;p5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71" name="Google Shape;971;p5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72" name="Google Shape;972;p5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5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6" name="Google Shape;976;p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0" name="Google Shape;980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1" name="Google Shape;98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theme" Target="../theme/theme2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BeatMap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October 2025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7" name="Google Shape;987;p61"/>
          <p:cNvSpPr txBox="1"/>
          <p:nvPr>
            <p:ph type="title"/>
          </p:nvPr>
        </p:nvSpPr>
        <p:spPr>
          <a:xfrm>
            <a:off x="69050" y="2923675"/>
            <a:ext cx="5876700" cy="141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</a:rPr>
              <a:t>Beatmap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3DFD6"/>
                </a:solidFill>
              </a:rPr>
              <a:t>BeatMap</a:t>
            </a:r>
            <a:endParaRPr>
              <a:solidFill>
                <a:srgbClr val="E3DFD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dk2"/>
                </a:solidFill>
              </a:rPr>
              <a:t>Iteration </a:t>
            </a:r>
            <a:r>
              <a:rPr lang="en" sz="5400">
                <a:solidFill>
                  <a:srgbClr val="E3DFD6"/>
                </a:solidFill>
              </a:rPr>
              <a:t>3 </a:t>
            </a:r>
            <a:endParaRPr sz="5400">
              <a:solidFill>
                <a:srgbClr val="E3DFD6"/>
              </a:solidFill>
            </a:endParaRPr>
          </a:p>
          <a:p>
            <a:pPr indent="-571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3DFD6"/>
              </a:buClr>
              <a:buSzPts val="5400"/>
              <a:buChar char="-"/>
            </a:pPr>
            <a:r>
              <a:rPr lang="en" sz="5400">
                <a:solidFill>
                  <a:srgbClr val="E3DFD6"/>
                </a:solidFill>
              </a:rPr>
              <a:t>Wrap-up</a:t>
            </a:r>
            <a:endParaRPr sz="5400">
              <a:solidFill>
                <a:srgbClr val="E3DFD6"/>
              </a:solidFill>
            </a:endParaRPr>
          </a:p>
        </p:txBody>
      </p:sp>
      <p:sp>
        <p:nvSpPr>
          <p:cNvPr id="988" name="Google Shape;988;p61"/>
          <p:cNvSpPr txBox="1"/>
          <p:nvPr>
            <p:ph idx="1" type="subTitle"/>
          </p:nvPr>
        </p:nvSpPr>
        <p:spPr>
          <a:xfrm>
            <a:off x="138475" y="4119775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S. Akerman, E. Cavallero, Z. Cheng, G. Grimaylo, M. Laszlo, Z. Liao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89" name="Google Shape;989;p61" title="Beatmap Logo (1)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9" l="0" r="0" t="119"/>
          <a:stretch/>
        </p:blipFill>
        <p:spPr>
          <a:xfrm>
            <a:off x="6598200" y="2527800"/>
            <a:ext cx="1608000" cy="162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2"/>
          <p:cNvSpPr txBox="1"/>
          <p:nvPr>
            <p:ph idx="3" type="title"/>
          </p:nvPr>
        </p:nvSpPr>
        <p:spPr>
          <a:xfrm>
            <a:off x="402450" y="4101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995" name="Google Shape;995;p6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996" name="Google Shape;996;p6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997" name="Google Shape;997;p62"/>
          <p:cNvSpPr txBox="1"/>
          <p:nvPr/>
        </p:nvSpPr>
        <p:spPr>
          <a:xfrm>
            <a:off x="563700" y="1343100"/>
            <a:ext cx="79227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ra SemiBold"/>
              <a:buAutoNum type="arabicPeriod"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Iteration 3 Summary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ra SemiBold"/>
              <a:buAutoNum type="arabicPeriod"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Project Management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ra SemiBold"/>
              <a:buAutoNum type="arabicPeriod"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Requirement Analysis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ra SemiBold"/>
              <a:buAutoNum type="arabicPeriod"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Design and Architecture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ra SemiBold"/>
              <a:buAutoNum type="arabicPeriod"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Testing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ra SemiBold"/>
              <a:buAutoNum type="arabicPeriod"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Security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ra SemiBold"/>
              <a:buAutoNum type="arabicPeriod"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CI/CD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ra SemiBold"/>
              <a:buAutoNum type="arabicPeriod"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Demo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3"/>
          <p:cNvSpPr txBox="1"/>
          <p:nvPr>
            <p:ph idx="3" type="title"/>
          </p:nvPr>
        </p:nvSpPr>
        <p:spPr>
          <a:xfrm>
            <a:off x="402450" y="4101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3</a:t>
            </a:r>
            <a:endParaRPr/>
          </a:p>
        </p:txBody>
      </p:sp>
      <p:sp>
        <p:nvSpPr>
          <p:cNvPr id="1003" name="Google Shape;1003;p63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04" name="Google Shape;1004;p6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05" name="Google Shape;1005;p63"/>
          <p:cNvSpPr txBox="1"/>
          <p:nvPr/>
        </p:nvSpPr>
        <p:spPr>
          <a:xfrm>
            <a:off x="563700" y="1343100"/>
            <a:ext cx="79227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Final, short iteration. Focused on fixing known issues and improving quality.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Implemented ConcertProviderInterface for unified provider logic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Refined UI/UX for consistency and polish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Fixed key bugs and stability issues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Added backend integration tests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Added frontend security regression tests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4"/>
          <p:cNvSpPr txBox="1"/>
          <p:nvPr>
            <p:ph idx="3" type="title"/>
          </p:nvPr>
        </p:nvSpPr>
        <p:spPr>
          <a:xfrm>
            <a:off x="402450" y="410175"/>
            <a:ext cx="4684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</a:t>
            </a:r>
            <a:endParaRPr/>
          </a:p>
        </p:txBody>
      </p:sp>
      <p:sp>
        <p:nvSpPr>
          <p:cNvPr id="1011" name="Google Shape;1011;p64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12" name="Google Shape;1012;p6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13" name="Google Shape;1013;p64"/>
          <p:cNvSpPr txBox="1"/>
          <p:nvPr/>
        </p:nvSpPr>
        <p:spPr>
          <a:xfrm>
            <a:off x="563700" y="1160225"/>
            <a:ext cx="79227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Role Assignments and Contributions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Sam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: CI/CD pipeline setup, containerization &amp; microservice orchestration, AWS hosting, request flow logic, AI integration, testing, and AI implementation design.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Michael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: Security configuration, HTTPS and SSL setup, and testing.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Zhehao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: Requirement analysis, project management &amp; coordination, frontend development, and backend/frontend integration.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Greg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: Provider microservice (external API integration), AI integration, and testing.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Zixuan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: Provider microservice (external API integration), backend/frontend integration, and frontend features.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Ed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: Frontend 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development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, AI implementation design, and AI backend integration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5"/>
          <p:cNvSpPr txBox="1"/>
          <p:nvPr>
            <p:ph idx="3" type="title"/>
          </p:nvPr>
        </p:nvSpPr>
        <p:spPr>
          <a:xfrm>
            <a:off x="402450" y="410175"/>
            <a:ext cx="4684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</a:t>
            </a:r>
            <a:endParaRPr/>
          </a:p>
        </p:txBody>
      </p:sp>
      <p:sp>
        <p:nvSpPr>
          <p:cNvPr id="1019" name="Google Shape;1019;p65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20" name="Google Shape;1020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21" name="Google Shape;1021;p65"/>
          <p:cNvSpPr txBox="1"/>
          <p:nvPr/>
        </p:nvSpPr>
        <p:spPr>
          <a:xfrm>
            <a:off x="563700" y="1343100"/>
            <a:ext cx="79227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Risk &amp; Quality Management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Risks identified: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 scope creep, integration delays, and limited time for testing.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Mitigation: 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reduced non-essential features, parallelized development, early integration testing.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b="1" lang="en" sz="1100">
                <a:latin typeface="Sora"/>
                <a:ea typeface="Sora"/>
                <a:cs typeface="Sora"/>
                <a:sym typeface="Sora"/>
              </a:rPr>
              <a:t>Quality metrics: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 API response success rate, test pass rate, container uptime, and system latency.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66"/>
          <p:cNvSpPr txBox="1"/>
          <p:nvPr>
            <p:ph idx="3" type="title"/>
          </p:nvPr>
        </p:nvSpPr>
        <p:spPr>
          <a:xfrm>
            <a:off x="402450" y="410175"/>
            <a:ext cx="7970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Process, </a:t>
            </a:r>
            <a:r>
              <a:rPr lang="en"/>
              <a:t>Achievements</a:t>
            </a:r>
            <a:r>
              <a:rPr lang="en"/>
              <a:t> and Lessons</a:t>
            </a:r>
            <a:endParaRPr/>
          </a:p>
        </p:txBody>
      </p:sp>
      <p:sp>
        <p:nvSpPr>
          <p:cNvPr id="1027" name="Google Shape;1027;p66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28" name="Google Shape;1028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29" name="Google Shape;1029;p66"/>
          <p:cNvSpPr txBox="1"/>
          <p:nvPr/>
        </p:nvSpPr>
        <p:spPr>
          <a:xfrm>
            <a:off x="563700" y="1148800"/>
            <a:ext cx="79227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Iteration Evolution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Iteration 1: core backend and frontend setup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Iteration 2: AI microservice, frontend/backend integration, HTTPS + SSL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Iteration 3: Frontend and backend refinements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Highlights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AI-driven concert recommendations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AWS-hosted multi-service system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Clean frontend–backend workflow</a:t>
            </a:r>
            <a:endParaRPr sz="11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7"/>
          <p:cNvSpPr txBox="1"/>
          <p:nvPr>
            <p:ph idx="3" type="title"/>
          </p:nvPr>
        </p:nvSpPr>
        <p:spPr>
          <a:xfrm>
            <a:off x="402450" y="410175"/>
            <a:ext cx="80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Process, Achievements and Lessons</a:t>
            </a:r>
            <a:endParaRPr/>
          </a:p>
        </p:txBody>
      </p:sp>
      <p:sp>
        <p:nvSpPr>
          <p:cNvPr id="1035" name="Google Shape;1035;p67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36" name="Google Shape;1036;p6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37" name="Google Shape;1037;p67"/>
          <p:cNvSpPr txBox="1"/>
          <p:nvPr/>
        </p:nvSpPr>
        <p:spPr>
          <a:xfrm>
            <a:off x="563700" y="1343100"/>
            <a:ext cx="79227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Challenges and Lessons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 sz="1100" u="sng">
                <a:latin typeface="Sora Light"/>
                <a:ea typeface="Sora Light"/>
                <a:cs typeface="Sora Light"/>
                <a:sym typeface="Sora Light"/>
              </a:rPr>
              <a:t>Challenges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: short timelines, 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merge conflicts, 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API limitations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 sz="1100" u="sng">
                <a:latin typeface="Sora Light"/>
                <a:ea typeface="Sora Light"/>
                <a:cs typeface="Sora Light"/>
                <a:sym typeface="Sora Light"/>
              </a:rPr>
              <a:t>Lessons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: integrate early, keep scope focused, set realistic deadlines and objectives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8"/>
          <p:cNvSpPr txBox="1"/>
          <p:nvPr>
            <p:ph idx="3" type="title"/>
          </p:nvPr>
        </p:nvSpPr>
        <p:spPr>
          <a:xfrm>
            <a:off x="402450" y="410175"/>
            <a:ext cx="4984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1043" name="Google Shape;1043;p68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44" name="Google Shape;1044;p6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45" name="Google Shape;1045;p68"/>
          <p:cNvSpPr txBox="1"/>
          <p:nvPr/>
        </p:nvSpPr>
        <p:spPr>
          <a:xfrm>
            <a:off x="563700" y="1602625"/>
            <a:ext cx="7922700" cy="21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“BeatMap is a concert discovery platform that lets users find live music events across multiple providers (Ticketmaster, Jambase, etc.) through a single interface with AI-powered search.”</a:t>
            </a:r>
            <a:endParaRPr i="1" sz="16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9"/>
          <p:cNvSpPr txBox="1"/>
          <p:nvPr>
            <p:ph idx="3" type="title"/>
          </p:nvPr>
        </p:nvSpPr>
        <p:spPr>
          <a:xfrm>
            <a:off x="402450" y="410175"/>
            <a:ext cx="4984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1051" name="Google Shape;1051;p69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52" name="Google Shape;1052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53" name="Google Shape;1053;p69"/>
          <p:cNvSpPr txBox="1"/>
          <p:nvPr/>
        </p:nvSpPr>
        <p:spPr>
          <a:xfrm>
            <a:off x="563700" y="1162200"/>
            <a:ext cx="79227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Functional requirements: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Search concerts by artist, location, or date range.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Handle natural language inputs (“metal concerts in Lisbon this summer”).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Aggregate results from multiple providers into a unified format.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Secure HTTPS communication.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Non-</a:t>
            </a: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Functional requirements: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Availability: ≥ 99% uptime (AWS EC2 + Docker deployment)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Scalability: Supports horizontal scaling of provider services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Maintainability: Modular microservice architecture with clean interfaces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Reliability: Graceful error handling and retry mechanisms for API calls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Testability: Automated unit, integration, and regression test coverage</a:t>
            </a:r>
            <a:endParaRPr sz="17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70"/>
          <p:cNvSpPr txBox="1"/>
          <p:nvPr>
            <p:ph idx="3" type="title"/>
          </p:nvPr>
        </p:nvSpPr>
        <p:spPr>
          <a:xfrm>
            <a:off x="402450" y="410175"/>
            <a:ext cx="4984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1059" name="Google Shape;1059;p70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60" name="Google Shape;1060;p7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61" name="Google Shape;1061;p70"/>
          <p:cNvSpPr txBox="1"/>
          <p:nvPr/>
        </p:nvSpPr>
        <p:spPr>
          <a:xfrm>
            <a:off x="563700" y="1162200"/>
            <a:ext cx="38232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User stories: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Char char="●"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As a visitor, I want to search concerts using natural language queries, so that I can easily find events that match my interests.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Char char="●"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As a visitor, I want to view detailed concert information — including artist, venue, and ticket links — so that I can decide whether to attend.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Char char="●"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As a user, I want the website to show clear loading and error feedback during data retrieval, so that I understand the system’s current state.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highlight>
                <a:srgbClr val="FF0000"/>
              </a:highlight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62" name="Google Shape;1062;p70" title="Untitled diagram-2025-10-12-2137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6900" y="1164501"/>
            <a:ext cx="4726151" cy="352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71"/>
          <p:cNvSpPr txBox="1"/>
          <p:nvPr>
            <p:ph idx="3" type="title"/>
          </p:nvPr>
        </p:nvSpPr>
        <p:spPr>
          <a:xfrm>
            <a:off x="402450" y="410175"/>
            <a:ext cx="5936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Architecture</a:t>
            </a:r>
            <a:endParaRPr/>
          </a:p>
        </p:txBody>
      </p:sp>
      <p:sp>
        <p:nvSpPr>
          <p:cNvPr id="1068" name="Google Shape;1068;p71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69" name="Google Shape;1069;p7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70" name="Google Shape;1070;p71"/>
          <p:cNvSpPr txBox="1"/>
          <p:nvPr/>
        </p:nvSpPr>
        <p:spPr>
          <a:xfrm>
            <a:off x="563700" y="1091418"/>
            <a:ext cx="79227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Architecture overview</a:t>
            </a: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: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Microservices architecture: Backend API coordinating 3 provider services (Ticketmaster, JamBase, Groq AI) for modular scalability.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Frontend: Built with React + Vite for speed and component reusability.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Backend: FastAPI-based REST API enabling clean async communication.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Reverse proxy: Nginx handles routing, HTTPS, and SSL termination.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Containerization: All components run on Docker, deployable to AWS EC2 or local environments.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2"/>
          <p:cNvSpPr txBox="1"/>
          <p:nvPr>
            <p:ph idx="3" type="title"/>
          </p:nvPr>
        </p:nvSpPr>
        <p:spPr>
          <a:xfrm>
            <a:off x="402450" y="410175"/>
            <a:ext cx="5936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Architecture</a:t>
            </a:r>
            <a:endParaRPr/>
          </a:p>
        </p:txBody>
      </p:sp>
      <p:sp>
        <p:nvSpPr>
          <p:cNvPr id="1076" name="Google Shape;1076;p7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77" name="Google Shape;1077;p7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78" name="Google Shape;1078;p72"/>
          <p:cNvSpPr txBox="1"/>
          <p:nvPr/>
        </p:nvSpPr>
        <p:spPr>
          <a:xfrm>
            <a:off x="563700" y="1091418"/>
            <a:ext cx="79227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Design Patterns used: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Adapter Pattern: Unifies external APIs via the ConcertProviderInterface, ensuring all providers follow a consistent structure.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Facade Pattern: ConcertsService serves as a single gateway, coordinating communication among multiple providers.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Strategy Pattern: Dynamically selects the most suitable provider at runtime based on user input or availability.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Composite Pattern: Builds the React UI from reusable, nested components (ResultCard, ResultsPanel), improving maintainability and scalability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3"/>
          <p:cNvSpPr txBox="1"/>
          <p:nvPr>
            <p:ph idx="3" type="title"/>
          </p:nvPr>
        </p:nvSpPr>
        <p:spPr>
          <a:xfrm>
            <a:off x="402450" y="410175"/>
            <a:ext cx="5936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architecture</a:t>
            </a:r>
            <a:endParaRPr/>
          </a:p>
        </p:txBody>
      </p:sp>
      <p:sp>
        <p:nvSpPr>
          <p:cNvPr id="1084" name="Google Shape;1084;p73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85" name="Google Shape;1085;p7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pic>
        <p:nvPicPr>
          <p:cNvPr id="1086" name="Google Shape;108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625" y="1093575"/>
            <a:ext cx="4782275" cy="38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4"/>
          <p:cNvSpPr txBox="1"/>
          <p:nvPr>
            <p:ph idx="3" type="title"/>
          </p:nvPr>
        </p:nvSpPr>
        <p:spPr>
          <a:xfrm>
            <a:off x="402450" y="410175"/>
            <a:ext cx="5936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architecture</a:t>
            </a:r>
            <a:endParaRPr/>
          </a:p>
        </p:txBody>
      </p:sp>
      <p:sp>
        <p:nvSpPr>
          <p:cNvPr id="1092" name="Google Shape;1092;p74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093" name="Google Shape;1093;p7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pic>
        <p:nvPicPr>
          <p:cNvPr id="1094" name="Google Shape;109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200" y="1245975"/>
            <a:ext cx="4104773" cy="37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5"/>
          <p:cNvSpPr txBox="1"/>
          <p:nvPr>
            <p:ph idx="3" type="title"/>
          </p:nvPr>
        </p:nvSpPr>
        <p:spPr>
          <a:xfrm>
            <a:off x="402450" y="410175"/>
            <a:ext cx="5936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Architecture</a:t>
            </a:r>
            <a:endParaRPr/>
          </a:p>
        </p:txBody>
      </p:sp>
      <p:sp>
        <p:nvSpPr>
          <p:cNvPr id="1100" name="Google Shape;1100;p75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101" name="Google Shape;1101;p7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102" name="Google Shape;1102;p75"/>
          <p:cNvSpPr txBox="1"/>
          <p:nvPr/>
        </p:nvSpPr>
        <p:spPr>
          <a:xfrm>
            <a:off x="563700" y="1091426"/>
            <a:ext cx="7922700" cy="3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Project structure: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beatmap/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└── src/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├── backend/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   ├── app/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   │   ├── api/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   │   ├── core/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   └── scripts/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├── frontend/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   └── src/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├── providers/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   ├── jambase/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   ├── ticketmaster/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   ├── groq/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│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│   └── interfaces/</a:t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└── ssl/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76"/>
          <p:cNvSpPr txBox="1"/>
          <p:nvPr>
            <p:ph idx="3" type="title"/>
          </p:nvPr>
        </p:nvSpPr>
        <p:spPr>
          <a:xfrm>
            <a:off x="402450" y="410175"/>
            <a:ext cx="5936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1108" name="Google Shape;1108;p76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109" name="Google Shape;1109;p7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110" name="Google Shape;1110;p76"/>
          <p:cNvSpPr txBox="1"/>
          <p:nvPr/>
        </p:nvSpPr>
        <p:spPr>
          <a:xfrm>
            <a:off x="563700" y="1091418"/>
            <a:ext cx="79227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We incorporated various types of testing techniques throughout the lifecycle of our project:	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Unit Testing with pytest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Integration Testing (API &amp; SSL/HTTPS)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System &amp; Acceptance Testing (manual end-to-end)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Regression Testing (CI on every commit)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TDD &amp; BDD (Gherkin scenarios)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Security Testing (SSL/TLS, headers, redirection)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Complete end-to-end testing environment on AWS, fully matching the production setup.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Results: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Expanded from basic tests to 60+ automated test functions.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Verified API endpoints, SSL config, middleware, and AI integration.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Continuous regression coverage via GitHub Actions.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All critical tests passing; deployment verified over HTTPS.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7"/>
          <p:cNvSpPr txBox="1"/>
          <p:nvPr>
            <p:ph idx="3" type="title"/>
          </p:nvPr>
        </p:nvSpPr>
        <p:spPr>
          <a:xfrm>
            <a:off x="402450" y="410175"/>
            <a:ext cx="5936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</a:t>
            </a:r>
            <a:endParaRPr/>
          </a:p>
        </p:txBody>
      </p:sp>
      <p:sp>
        <p:nvSpPr>
          <p:cNvPr id="1116" name="Google Shape;1116;p77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117" name="Google Shape;1117;p7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118" name="Google Shape;1118;p77"/>
          <p:cNvSpPr txBox="1"/>
          <p:nvPr/>
        </p:nvSpPr>
        <p:spPr>
          <a:xfrm>
            <a:off x="563700" y="1091418"/>
            <a:ext cx="7922700" cy="3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End-to-End HTTPS: Enforced via Nginx reverse proxy and Let’s Encrypt SSL certificates.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Secure Configuration: HTTPS-only access with protective headers (HSTS, CSP, CORS) for safer browsing.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Secrets Management: Environment variables and GitHub Actions secrets for keys and API tokens.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Security testing: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Automated SSL/HTTPS validation tests (certificate paths, redirection).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Bandit, pip-audit, and Safety scans for dependency vulnerabilities.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Manual validation of HTTPS-only access in production.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Container Isolation: Each microservice runs in a separate Docker container.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○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TDD/BDD for Security: Test-driven SSL configuration and middleware validation.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8"/>
          <p:cNvSpPr txBox="1"/>
          <p:nvPr>
            <p:ph idx="3" type="title"/>
          </p:nvPr>
        </p:nvSpPr>
        <p:spPr>
          <a:xfrm>
            <a:off x="402450" y="410175"/>
            <a:ext cx="5936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CI/CD</a:t>
            </a:r>
            <a:endParaRPr/>
          </a:p>
        </p:txBody>
      </p:sp>
      <p:sp>
        <p:nvSpPr>
          <p:cNvPr id="1124" name="Google Shape;1124;p78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125" name="Google Shape;1125;p7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126" name="Google Shape;1126;p78"/>
          <p:cNvSpPr txBox="1"/>
          <p:nvPr/>
        </p:nvSpPr>
        <p:spPr>
          <a:xfrm>
            <a:off x="610650" y="1040371"/>
            <a:ext cx="79227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GitHub Actions: Automated build and test on every push.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Security Scans: Bandit, pip-audit, and Safety run automatically.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Automated Testing: Executes all pytest suites (unit, integration, SSL, AI).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Dockerized Deployment: Builds and deploys containers to AWS EC2.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Environment Control: Separate .env.dev and .env.prod configs.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 Light"/>
              <a:buChar char="●"/>
            </a:pPr>
            <a:r>
              <a:rPr lang="en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Reliable Delivery: Consistent, repeatable deployments with minimal manual steps.</a:t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pic>
        <p:nvPicPr>
          <p:cNvPr id="1127" name="Google Shape;112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75" y="2653403"/>
            <a:ext cx="3961858" cy="215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6738" y="3043150"/>
            <a:ext cx="4544325" cy="14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9"/>
          <p:cNvSpPr txBox="1"/>
          <p:nvPr>
            <p:ph idx="3" type="title"/>
          </p:nvPr>
        </p:nvSpPr>
        <p:spPr>
          <a:xfrm>
            <a:off x="2422200" y="2160750"/>
            <a:ext cx="42996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BeatMap Demo</a:t>
            </a:r>
            <a:endParaRPr sz="4600"/>
          </a:p>
        </p:txBody>
      </p:sp>
      <p:sp>
        <p:nvSpPr>
          <p:cNvPr id="1134" name="Google Shape;1134;p79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135" name="Google Shape;1135;p7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0"/>
          <p:cNvSpPr txBox="1"/>
          <p:nvPr>
            <p:ph idx="3" type="title"/>
          </p:nvPr>
        </p:nvSpPr>
        <p:spPr>
          <a:xfrm>
            <a:off x="3039600" y="2160750"/>
            <a:ext cx="30648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Thank you!</a:t>
            </a:r>
            <a:endParaRPr sz="4600"/>
          </a:p>
        </p:txBody>
      </p:sp>
      <p:sp>
        <p:nvSpPr>
          <p:cNvPr id="1141" name="Google Shape;1141;p80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Oct.2025</a:t>
            </a:r>
            <a:endParaRPr/>
          </a:p>
        </p:txBody>
      </p:sp>
      <p:sp>
        <p:nvSpPr>
          <p:cNvPr id="1142" name="Google Shape;1142;p8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